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6B0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480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🍔  Food Delivery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803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5E5E5"/>
                </a:solidFill>
              </a:rPr>
              <a:t>A full-stack Python · Flet · SQLite application
with role-based access and real-time order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572000"/>
            <a:ext cx="12188952" cy="6400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D700"/>
                </a:solidFill>
              </a:rPr>
              <a:t>5-Minute Overview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5E5E5"/>
                </a:solidFill>
              </a:rPr>
              <a:t>A desktop food ordering platform that connects customers, restaurant owners, and administrators through a single Python application — no browser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651760" cy="3474720"/>
          </a:xfrm>
          <a:prstGeom prst="rect">
            <a:avLst/>
          </a:prstGeom>
          <a:solidFill>
            <a:srgbClr val="2A2A2A"/>
          </a:solidFill>
          <a:ln w="1905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👥 3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644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Restaurant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4845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Administrator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103120"/>
            <a:ext cx="2651760" cy="3474720"/>
          </a:xfrm>
          <a:prstGeom prst="rect">
            <a:avLst/>
          </a:prstGeom>
          <a:solidFill>
            <a:srgbClr val="2A2A2A"/>
          </a:solidFill>
          <a:ln w="1905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🗃️ Local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80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SQLite + SQLAlchemy 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644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No external DB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103120"/>
            <a:ext cx="2651760" cy="3474720"/>
          </a:xfrm>
          <a:prstGeom prst="rect">
            <a:avLst/>
          </a:prstGeom>
          <a:solidFill>
            <a:srgbClr val="2A2A2A"/>
          </a:solidFill>
          <a:ln w="1905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🖥️ Native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880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Python Flet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2644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Dark gradient theme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103120"/>
            <a:ext cx="2651760" cy="3474720"/>
          </a:xfrm>
          <a:prstGeom prst="rect">
            <a:avLst/>
          </a:prstGeom>
          <a:solidFill>
            <a:srgbClr val="2A2A2A"/>
          </a:solidFill>
          <a:ln w="1905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🔒 Secure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880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bcrypt hashing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2644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Session timeouts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64845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Account lockout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47548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3327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033272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033272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53896"/>
            <a:ext cx="11430000" cy="4754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270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UI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2704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Flet 0.28  (Flutter / Python)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527048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Cross-platform native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47672"/>
            <a:ext cx="11430000" cy="4754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208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ORM /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020824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SQLAlchemy 2.0  +  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020824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Data persistence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41448"/>
            <a:ext cx="11430000" cy="4754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514600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bcrypt 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14600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Password hashing (12 rounds)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35224"/>
            <a:ext cx="11430000" cy="4754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0837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OAuth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008376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Google OAuth 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008376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Social sign-in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29000"/>
            <a:ext cx="11430000" cy="4754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0215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Cloud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502152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Cloudinary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502152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Image hosting (optional)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22776"/>
            <a:ext cx="11430000" cy="4754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9592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99592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SMTP / python-dotenv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995928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Notifications &amp; reset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16552"/>
            <a:ext cx="11430000" cy="4754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48970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Utilities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489704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requests, python-dotenv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489704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HTTP + env config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Authentication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🔑 Password &amp; Validation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bcrypt hashing  (12 rounds)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Min 8 chars · upper · lower · digit · symbol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Real-time strength meter  (Weak → Very Strong)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Email format validation (RFC 5321)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6616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🔐 Account Lockout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5 failed attempts → 1-min lockout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Visual countdown timer shown to user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Auto-unlock after lockout period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Failed-attempt log visible to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⏱️ Session Security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Activity-based timeout (15 min default)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Warning notification 2 min before expiry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Auto-logout on idle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Secure cleanup on logout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5661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🖼️ Image Upload Security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UUID-based filenames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MIME-type validation (imghdr)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Max 3 MB menu  /  1 MB profile photos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.jpg .jpeg .png .gif extensions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11880" cy="5303520"/>
          </a:xfrm>
          <a:prstGeom prst="rect">
            <a:avLst/>
          </a:prstGeom>
          <a:solidFill>
            <a:srgbClr val="2A2A2A"/>
          </a:solidFill>
          <a:ln w="1905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11880" cy="640080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🧑‍🍳 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916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Browse menu (search + category filter)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3042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Add to cart · adjust quantity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9169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Place orders with delivery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52958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Cancel orders (placed / preparing)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14223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View order history &amp; live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7548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Update profile &amp; change 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36752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Upload profile picture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8808" y="960120"/>
            <a:ext cx="3611880" cy="5303520"/>
          </a:xfrm>
          <a:prstGeom prst="rect">
            <a:avLst/>
          </a:prstGeom>
          <a:solidFill>
            <a:srgbClr val="2A2A2A"/>
          </a:solidFill>
          <a:ln w="1905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78808" y="960120"/>
            <a:ext cx="3611880" cy="640080"/>
          </a:xfrm>
          <a:prstGeom prst="rect">
            <a:avLst/>
          </a:prstGeom>
          <a:solidFill>
            <a:srgbClr val="6B0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0058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🏪  Restaurant 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6916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Full menu CRUD (add / edit / delete)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042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Upload food item images (≤ 3 MB)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9169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Category-based organisation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52958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Process orders &amp; update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4223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Filter orders by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7548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Profile management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1856" y="960120"/>
            <a:ext cx="3611880" cy="5303520"/>
          </a:xfrm>
          <a:prstGeom prst="rect">
            <a:avLst/>
          </a:prstGeom>
          <a:solidFill>
            <a:srgbClr val="2A2A2A"/>
          </a:solidFill>
          <a:ln w="1905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1856" y="960120"/>
            <a:ext cx="3611880" cy="640080"/>
          </a:xfrm>
          <a:prstGeom prst="rect">
            <a:avLst/>
          </a:prstGeom>
          <a:solidFill>
            <a:srgbClr val="3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9016" y="10058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🛡️  Administrator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16916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Create / disable / enable / delete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23042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Filter users by role, status, keyword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29169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View failed logins &amp; locked accounts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52958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Override any order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414223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Access audit 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7548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• System-wide order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Menu &amp; Order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394960" cy="5303520"/>
          </a:xfrm>
          <a:prstGeom prst="rect">
            <a:avLst/>
          </a:prstGeom>
          <a:solidFill>
            <a:srgbClr val="2A2A2A"/>
          </a:solidFill>
          <a:ln w="1905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394960" cy="548640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🍽️  Menu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5 categories: Appetizers · Mains ·
   Desserts · Drinks · 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Image support (file upload or emoji)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7004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Full-text search across all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9125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Real-time category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Server-side pagination (10 items/page)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3366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Price management by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7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Soft-delete to preserve order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960120"/>
            <a:ext cx="5486400" cy="5303520"/>
          </a:xfrm>
          <a:prstGeom prst="rect">
            <a:avLst/>
          </a:prstGeom>
          <a:solidFill>
            <a:srgbClr val="2A2A2A"/>
          </a:solidFill>
          <a:ln w="1905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960120"/>
            <a:ext cx="5486400" cy="548640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0058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📦  Order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2763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Cart → Checkout → Confirm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3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Delivery address &amp; phone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7004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Per-customer order numbering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91253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Status machine:
   Placed → Preparing → Ready → Delivered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124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Cancel allowed (Placed / Preparing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33667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30-second background status poll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5487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Order history with status filters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7608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5E5E5"/>
                </a:solidFill>
              </a:rPr>
              <a:t>• Admin can override any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User Interface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1554480" cy="548640"/>
          </a:xfrm>
          <a:prstGeom prst="rect">
            <a:avLst/>
          </a:prstGeom>
          <a:solidFill>
            <a:srgbClr val="9A031E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</a:rPr>
              <a:t>#9A031E  Primary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005840"/>
            <a:ext cx="1554480" cy="548640"/>
          </a:xfrm>
          <a:prstGeom prst="rect">
            <a:avLst/>
          </a:prstGeom>
          <a:solidFill>
            <a:srgbClr val="6B0113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600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</a:rPr>
              <a:t>#6B0113  Dark 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005840"/>
            <a:ext cx="155448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600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</a:rPr>
              <a:t>#1A1A1A  Background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005840"/>
            <a:ext cx="1554480" cy="548640"/>
          </a:xfrm>
          <a:prstGeom prst="rect">
            <a:avLst/>
          </a:prstGeom>
          <a:solidFill>
            <a:srgbClr val="2A2A2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600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</a:rPr>
              <a:t>#2A2A2A  Card BG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005840"/>
            <a:ext cx="1554480" cy="548640"/>
          </a:xfrm>
          <a:prstGeom prst="rect">
            <a:avLst/>
          </a:prstGeom>
          <a:solidFill>
            <a:srgbClr val="E5E5E5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600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</a:rPr>
              <a:t>#E5E5E5 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005840"/>
            <a:ext cx="1554480" cy="548640"/>
          </a:xfrm>
          <a:prstGeom prst="rect">
            <a:avLst/>
          </a:prstGeom>
          <a:solidFill>
            <a:srgbClr val="FFD700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600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</a:rPr>
              <a:t>#FFD700  Accent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94560"/>
            <a:ext cx="2697480" cy="3931920"/>
          </a:xfrm>
          <a:prstGeom prst="rect">
            <a:avLst/>
          </a:prstGeom>
          <a:solidFill>
            <a:srgbClr val="2A2A2A"/>
          </a:solidFill>
          <a:ln w="1524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🎨 Gradient Backgrounds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Linear #9A031E → #6B0113 gradient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8269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Consistent dark theme throughout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85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High-contrast readable 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194560"/>
            <a:ext cx="2697480" cy="3931920"/>
          </a:xfrm>
          <a:prstGeom prst="rect">
            <a:avLst/>
          </a:prstGeom>
          <a:solidFill>
            <a:srgbClr val="2A2A2A"/>
          </a:solidFill>
          <a:ln w="1524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⚡ Real-Time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Password strength 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28269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Field-level validation on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3685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Snackbar toast notifications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6" y="2194560"/>
            <a:ext cx="2697480" cy="3931920"/>
          </a:xfrm>
          <a:prstGeom prst="rect">
            <a:avLst/>
          </a:prstGeom>
          <a:solidFill>
            <a:srgbClr val="2A2A2A"/>
          </a:solidFill>
          <a:ln w="1524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🗂️ Navigation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Tab-based role dashboards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328269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Splash → Login → Dashboard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3685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Loading screens with progress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61704" y="2194560"/>
            <a:ext cx="2697480" cy="3931920"/>
          </a:xfrm>
          <a:prstGeom prst="rect">
            <a:avLst/>
          </a:prstGeom>
          <a:solidFill>
            <a:srgbClr val="2A2A2A"/>
          </a:solidFill>
          <a:ln w="1524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98864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✨ Visual Polish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2880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Card shadows &amp; rounded corners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328269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Hover / focus highlight effects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36850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• Carousel login messages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881360" cy="658368"/>
          </a:xfrm>
          <a:prstGeom prst="rect">
            <a:avLst/>
          </a:prstGeom>
          <a:solidFill>
            <a:srgbClr val="9A031E"/>
          </a:solidFill>
          <a:ln w="101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6070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  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0972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ui/main.py  ·  screens/  (login, browse_menu, cart, order_history, dashboards)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642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A031E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29968"/>
            <a:ext cx="10881360" cy="658368"/>
          </a:xfrm>
          <a:prstGeom prst="rect">
            <a:avLst/>
          </a:prstGeom>
          <a:solidFill>
            <a:srgbClr val="6B0113"/>
          </a:solidFill>
          <a:ln w="101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  Business Logic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214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core/  (auth, session_manager, email_sender, phone_utils, image_utils, datetime_utils)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688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A031E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54096"/>
            <a:ext cx="10881360" cy="658368"/>
          </a:xfrm>
          <a:prstGeom prst="rect">
            <a:avLst/>
          </a:prstGeom>
          <a:solidFill>
            <a:srgbClr val="2A0008"/>
          </a:solidFill>
          <a:ln w="101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  Data Access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14553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models/models.py  (SQLAlchemy ORM)  ·  core/database.py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7124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A031E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78224"/>
            <a:ext cx="10881360" cy="658368"/>
          </a:xfrm>
          <a:prstGeom prst="rect">
            <a:avLst/>
          </a:prstGeom>
          <a:solidFill>
            <a:srgbClr val="2A2A2A"/>
          </a:solidFill>
          <a:ln w="101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330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  Storage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16966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5E5E5"/>
                </a:solidFill>
              </a:rPr>
              <a:t>SQLite  (food_delivery.db)  ·  assets/ (images)  ·  Cloudinary (optional)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External Services: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5074920"/>
            <a:ext cx="25603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51023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Google OAuth 2.0  (social login)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074920"/>
            <a:ext cx="25603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51023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Cloudinary  (image CDN)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5074920"/>
            <a:ext cx="25603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9A0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510235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5E5E5"/>
                </a:solidFill>
              </a:rPr>
              <a:t>SMTP  (email notifications)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Demo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0352" cy="53035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051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0972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E5E5"/>
                </a:solidFill>
              </a:rPr>
              <a:t>python ui/main.py  →  splash screen → 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11430000" cy="18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30352" cy="53035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7452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74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2024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E5E5"/>
                </a:solidFill>
              </a:rPr>
              <a:t>Login · browse menu · add to cart · place 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95728"/>
            <a:ext cx="11430000" cy="18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530352" cy="53035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9748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74320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E5E5"/>
                </a:solidFill>
              </a:rPr>
              <a:t>Login · add menu item with image · update order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18688"/>
            <a:ext cx="11430000" cy="18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530352" cy="53035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52044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6616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E5E5"/>
                </a:solidFill>
              </a:rPr>
              <a:t>Login · view users · lock/unlock · override order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41648"/>
            <a:ext cx="11430000" cy="18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297680"/>
            <a:ext cx="530352" cy="53035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34340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38912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E5E5"/>
                </a:solidFill>
              </a:rPr>
              <a:t>Wrong password ×5  →  lockout countdown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64608"/>
            <a:ext cx="11430000" cy="18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120640"/>
            <a:ext cx="530352" cy="53035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16636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Session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2120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E5E5"/>
                </a:solidFill>
              </a:rPr>
              <a:t>Idle 15 min  →  warning  →  auto-logout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687568"/>
            <a:ext cx="11430000" cy="18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D700"/>
                </a:solidFill>
              </a:rPr>
              <a:t>✅ What We Built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E5E5E5"/>
                </a:solidFill>
              </a:rPr>
              <a:t>• Secure multi-role authentication (bcrypt, lockout, session timeout)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E5E5E5"/>
                </a:solidFill>
              </a:rPr>
              <a:t>• Full order lifecycle: browse → cart → checkout → track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E5E5E5"/>
                </a:solidFill>
              </a:rPr>
              <a:t>• Complete owner menu management with image upload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E5E5E5"/>
                </a:solidFill>
              </a:rPr>
              <a:t>• Admin panel: user control, audit trail, order override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E5E5E5"/>
                </a:solidFill>
              </a:rPr>
              <a:t>• Clean layered architecture (UI / Logic / DAL / Storage)</a:t>
            </a:r>
          </a:p>
          <a:p>
            <a:pPr algn="l">
              <a:spcBef>
                <a:spcPts val="400"/>
              </a:spcBef>
            </a:pPr>
            <a:r>
              <a:rPr sz="1900">
                <a:solidFill>
                  <a:srgbClr val="E5E5E5"/>
                </a:solidFill>
              </a:rPr>
              <a:t>• Google OAuth 2.0 &amp; Cloudinary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96012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D700"/>
                </a:solidFill>
              </a:rPr>
              <a:t>🔮 Future Plans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Payment gateway (Stripe / GCash)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WebSocket real-time updates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Multi-restaurant support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Mobile / web via Flet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Ratings &amp; reviews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E5E5E5"/>
                </a:solidFill>
              </a:rPr>
              <a:t>• Delivery map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52160"/>
            <a:ext cx="12188952" cy="64008"/>
          </a:xfrm>
          <a:prstGeom prst="rect">
            <a:avLst/>
          </a:prstGeom>
          <a:solidFill>
            <a:srgbClr val="9A0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0350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700"/>
                </a:solidFill>
              </a:rPr>
              <a:t>Thank You  —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