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638646" y="344978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2718" y="1350818"/>
            <a:ext cx="7866256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Food Delivery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9659" y="3453938"/>
            <a:ext cx="5152373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0F0F0"/>
                </a:solidFill>
              </a:defRPr>
            </a:pPr>
            <a:r>
              <a:rPr dirty="0"/>
              <a:t>A Full-Featured Restaurant Management &amp; Delivery System</a:t>
            </a:r>
          </a:p>
          <a:p>
            <a:pPr algn="ctr"/>
            <a:r>
              <a:rPr dirty="0">
                <a:solidFill>
                  <a:schemeClr val="bg1"/>
                </a:solidFill>
              </a:rPr>
              <a:t>Built with Python &amp; Flet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86937" y="914400"/>
            <a:ext cx="421782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Project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👥  Multi-Role System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Customer, Restaurant Owner, and Administrator roles with distinct capabilities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9456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🔐  Enterprise Security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Advanced authentication with lockout protection and session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📱  Modern UI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Material Design interface with dark theme and gradient styling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84048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⚡  Real-Time Updates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Live order tracking and status updates with automatic polling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82077" y="914400"/>
            <a:ext cx="342754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Core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453667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D700"/>
                </a:solidFill>
              </a:defRPr>
            </a:pPr>
            <a:r>
              <a:rPr dirty="0"/>
              <a:t>🛒 Customer Features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Browse menu with search &amp; filters</a:t>
            </a: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endParaRPr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Shopping cart with quantity control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Order placement &amp; tracking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Order history with status filters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Cancel orders (placed/preparing)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Profile customization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194560"/>
            <a:ext cx="3826689" cy="415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D700"/>
                </a:solidFill>
              </a:defRPr>
            </a:pPr>
            <a:r>
              <a:rPr dirty="0"/>
              <a:t>🍽️ Owner Features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Menu item CRUD operations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Image upload (3MB limit)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Category management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Order status updates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Order filtering &amp; search</a:t>
            </a:r>
          </a:p>
          <a:p>
            <a:pPr lvl="1">
              <a:defRPr sz="1400">
                <a:solidFill>
                  <a:srgbClr val="F0F0F0"/>
                </a:solidFill>
              </a:defRPr>
            </a:pPr>
            <a:endParaRPr lang="en-PH" sz="2000" dirty="0"/>
          </a:p>
          <a:p>
            <a:pPr lvl="1">
              <a:defRPr sz="1400">
                <a:solidFill>
                  <a:srgbClr val="F0F0F0"/>
                </a:solidFill>
              </a:defRPr>
            </a:pPr>
            <a:r>
              <a:rPr sz="2000" dirty="0"/>
              <a:t>• Real-time order monitoring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68880" y="883227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👨‍💼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2973" y="914400"/>
            <a:ext cx="614302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Administrator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572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User Management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Create users (all roles); Enable/disable accounts; View login history; Monitor failed attempts; Search &amp; filter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77440"/>
            <a:ext cx="4572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System Oversight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/>
              <a:t>Monitor all orders; Update order statuses; View audit logs; Track user activity; System-wide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23360"/>
            <a:ext cx="4572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Security Controls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Password policy enforcement; Account lockout management; Session timeout control; Real-time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023360"/>
            <a:ext cx="4572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User Filters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Filter by role/status; Search by name/email; View locked accounts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26080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45" y="914400"/>
            <a:ext cx="509748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Security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572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>
                <a:solidFill>
                  <a:srgbClr val="FFC000"/>
                </a:solidFill>
              </a:rPr>
              <a:t>Password Security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 err="1">
                <a:solidFill>
                  <a:schemeClr val="tx1"/>
                </a:solidFill>
              </a:rPr>
              <a:t>bcrypt</a:t>
            </a:r>
            <a:r>
              <a:rPr dirty="0">
                <a:solidFill>
                  <a:schemeClr val="tx1"/>
                </a:solidFill>
              </a:rPr>
              <a:t> hashing (12 rounds); Min 8 chars; Upper/lowercase, number, special; Common password blocking; Strength indicator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77440"/>
            <a:ext cx="4572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Account Protection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Max 5 failed logins; 30-min lockout; Visual countdown; Auto unlock; Admin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389120"/>
            <a:ext cx="4572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Session Management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15-min inactivity timeout; 2-min warning; Activity tracking; Graceful termination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389120"/>
            <a:ext cx="4572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Input Validation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Email RFC validation; Real-time validation; Visual error indicators; Sanitization; SQL injection prevention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ABC78412-770C-BA7A-4429-9F933223FFC6}"/>
              </a:ext>
            </a:extLst>
          </p:cNvPr>
          <p:cNvSpPr/>
          <p:nvPr/>
        </p:nvSpPr>
        <p:spPr>
          <a:xfrm>
            <a:off x="9022468" y="2313136"/>
            <a:ext cx="1157547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endParaRPr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995599-E487-41A4-47C6-E443A77E4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389" y="2297490"/>
            <a:ext cx="1863785" cy="829128"/>
          </a:xfrm>
          <a:prstGeom prst="rect">
            <a:avLst/>
          </a:prstGeom>
        </p:spPr>
      </p:pic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8889108E-921B-4544-C402-325F1946FAE6}"/>
              </a:ext>
            </a:extLst>
          </p:cNvPr>
          <p:cNvSpPr/>
          <p:nvPr/>
        </p:nvSpPr>
        <p:spPr>
          <a:xfrm>
            <a:off x="4656858" y="2325485"/>
            <a:ext cx="1157547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endParaRPr dirty="0">
              <a:solidFill>
                <a:schemeClr val="tx1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825146B4-7F00-9051-2DFC-DCBB730FA7B3}"/>
              </a:ext>
            </a:extLst>
          </p:cNvPr>
          <p:cNvSpPr/>
          <p:nvPr/>
        </p:nvSpPr>
        <p:spPr>
          <a:xfrm>
            <a:off x="2930236" y="2325485"/>
            <a:ext cx="1157547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endParaRPr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826327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08775" y="914400"/>
            <a:ext cx="555722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Order Status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54428" y="2460540"/>
            <a:ext cx="724384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D700"/>
                </a:solidFill>
              </a:defRPr>
            </a:pPr>
            <a:r>
              <a:rPr dirty="0"/>
              <a:t>Placed   </a:t>
            </a:r>
            <a:r>
              <a:rPr lang="en-PH" dirty="0"/>
              <a:t>    </a:t>
            </a:r>
            <a:r>
              <a:rPr dirty="0"/>
              <a:t>→   </a:t>
            </a:r>
            <a:r>
              <a:rPr lang="en-PH" dirty="0"/>
              <a:t>  </a:t>
            </a:r>
            <a:r>
              <a:rPr dirty="0"/>
              <a:t>Preparing </a:t>
            </a:r>
            <a:r>
              <a:rPr lang="en-PH" dirty="0"/>
              <a:t>  </a:t>
            </a:r>
            <a:r>
              <a:rPr dirty="0"/>
              <a:t>  → </a:t>
            </a:r>
            <a:r>
              <a:rPr lang="en-PH" dirty="0"/>
              <a:t>  </a:t>
            </a:r>
            <a:r>
              <a:rPr dirty="0"/>
              <a:t>  Out for Delivery </a:t>
            </a:r>
            <a:r>
              <a:rPr lang="en-PH" dirty="0"/>
              <a:t>  </a:t>
            </a:r>
            <a:r>
              <a:rPr dirty="0"/>
              <a:t>  →</a:t>
            </a:r>
            <a:r>
              <a:rPr lang="en-PH" dirty="0"/>
              <a:t> </a:t>
            </a:r>
            <a:r>
              <a:rPr dirty="0"/>
              <a:t> </a:t>
            </a:r>
            <a:r>
              <a:rPr lang="en-PH" dirty="0"/>
              <a:t>  </a:t>
            </a:r>
            <a:r>
              <a:rPr dirty="0"/>
              <a:t> 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3182" y="3289668"/>
            <a:ext cx="5276316" cy="16004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400">
                <a:solidFill>
                  <a:srgbClr val="F0F0F0"/>
                </a:solidFill>
              </a:defRPr>
            </a:pPr>
            <a:r>
              <a:rPr sz="1600" dirty="0">
                <a:solidFill>
                  <a:srgbClr val="FFC000"/>
                </a:solidFill>
              </a:rPr>
              <a:t>Placed:</a:t>
            </a:r>
            <a:r>
              <a:rPr sz="1600" dirty="0"/>
              <a:t> Can move to Preparing, Out for Delivery, or Cancelled</a:t>
            </a:r>
            <a:endParaRPr lang="en-PH" sz="1600" dirty="0">
              <a:solidFill>
                <a:srgbClr val="FFC000"/>
              </a:solidFill>
            </a:endParaRPr>
          </a:p>
          <a:p>
            <a:pPr>
              <a:defRPr sz="1400">
                <a:solidFill>
                  <a:srgbClr val="F0F0F0"/>
                </a:solidFill>
              </a:defRPr>
            </a:pPr>
            <a:r>
              <a:rPr sz="1600" dirty="0">
                <a:solidFill>
                  <a:srgbClr val="FFC000"/>
                </a:solidFill>
              </a:rPr>
              <a:t>Preparing:</a:t>
            </a:r>
            <a:r>
              <a:rPr sz="1600" dirty="0"/>
              <a:t> Can move to Out for Delivery or Cancelled</a:t>
            </a:r>
            <a:endParaRPr lang="en-PH" sz="1600" dirty="0">
              <a:solidFill>
                <a:srgbClr val="FFC000"/>
              </a:solidFill>
            </a:endParaRPr>
          </a:p>
          <a:p>
            <a:pPr>
              <a:defRPr sz="1400">
                <a:solidFill>
                  <a:srgbClr val="F0F0F0"/>
                </a:solidFill>
              </a:defRPr>
            </a:pPr>
            <a:r>
              <a:rPr sz="1600" dirty="0">
                <a:solidFill>
                  <a:srgbClr val="FFC000"/>
                </a:solidFill>
              </a:rPr>
              <a:t>Out for Delivery:</a:t>
            </a:r>
            <a:r>
              <a:rPr sz="1600" dirty="0"/>
              <a:t> Can move to Delivered or Cancelled</a:t>
            </a:r>
            <a:endParaRPr lang="en-PH" sz="1600" dirty="0">
              <a:solidFill>
                <a:srgbClr val="FFC000"/>
              </a:solidFill>
            </a:endParaRPr>
          </a:p>
          <a:p>
            <a:pPr>
              <a:defRPr sz="1400">
                <a:solidFill>
                  <a:srgbClr val="F0F0F0"/>
                </a:solidFill>
              </a:defRPr>
            </a:pPr>
            <a:r>
              <a:rPr sz="1600" dirty="0">
                <a:solidFill>
                  <a:srgbClr val="FFC000"/>
                </a:solidFill>
              </a:rPr>
              <a:t>Delivered:</a:t>
            </a:r>
            <a:r>
              <a:rPr sz="1600" dirty="0"/>
              <a:t> Final state (no further changes)</a:t>
            </a:r>
            <a:endParaRPr lang="en-PH" sz="1600" dirty="0">
              <a:solidFill>
                <a:srgbClr val="FFC000"/>
              </a:solidFill>
            </a:endParaRPr>
          </a:p>
          <a:p>
            <a:pPr>
              <a:defRPr sz="1400">
                <a:solidFill>
                  <a:srgbClr val="F0F0F0"/>
                </a:solidFill>
              </a:defRPr>
            </a:pPr>
            <a:r>
              <a:rPr sz="1600" dirty="0">
                <a:solidFill>
                  <a:srgbClr val="FFC000"/>
                </a:solidFill>
              </a:rPr>
              <a:t>Cancelled:</a:t>
            </a:r>
            <a:r>
              <a:rPr sz="1600" dirty="0"/>
              <a:t> Final state (no further changes)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071406-83C2-7DC9-D80A-A8AA89A12CD1}"/>
              </a:ext>
            </a:extLst>
          </p:cNvPr>
          <p:cNvSpPr txBox="1"/>
          <p:nvPr/>
        </p:nvSpPr>
        <p:spPr>
          <a:xfrm>
            <a:off x="3708775" y="5312272"/>
            <a:ext cx="51010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✓ Per-customer order numbering for easy reference</a:t>
            </a:r>
          </a:p>
          <a:p>
            <a:r>
              <a:rPr lang="en-US" dirty="0">
                <a:solidFill>
                  <a:schemeClr val="bg1"/>
                </a:solidFill>
              </a:rPr>
              <a:t>✓ Real-time status updates (30-second polling)</a:t>
            </a:r>
          </a:p>
          <a:p>
            <a:endParaRPr lang="en-PH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29000" y="841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⚙️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2753" y="914400"/>
            <a:ext cx="424346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535" y="2458720"/>
            <a:ext cx="2987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🐍  Python 3.8+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Core Language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32655" y="2458720"/>
            <a:ext cx="2987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🎨  Flet 0.28.3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UI Framework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21775" y="2458720"/>
            <a:ext cx="2987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🗄️  SQLite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535" y="4378960"/>
            <a:ext cx="2987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🔧  </a:t>
            </a:r>
            <a:r>
              <a:rPr dirty="0" err="1"/>
              <a:t>SQLAlchemy</a:t>
            </a:r>
            <a:r>
              <a:rPr dirty="0"/>
              <a:t> 2.0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2655" y="4378960"/>
            <a:ext cx="2987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🔐  </a:t>
            </a:r>
            <a:r>
              <a:rPr dirty="0" err="1"/>
              <a:t>bcrypt</a:t>
            </a:r>
            <a:r>
              <a:rPr dirty="0"/>
              <a:t> 5.0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Password Hashing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1775" y="4378960"/>
            <a:ext cx="2987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📝  Material Design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UI Components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61064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75464" y="914400"/>
            <a:ext cx="433804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Database Schema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195DBC-D04A-9B56-A67C-943580DEF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55114"/>
              </p:ext>
            </p:extLst>
          </p:nvPr>
        </p:nvGraphicFramePr>
        <p:xfrm>
          <a:off x="1046480" y="3234266"/>
          <a:ext cx="8127999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47823371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3596617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62223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177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40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6461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908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454379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7BC3D8B-B059-1CD2-4203-CCA7836541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1289762"/>
              </p:ext>
            </p:extLst>
          </p:nvPr>
        </p:nvGraphicFramePr>
        <p:xfrm>
          <a:off x="2052016" y="2167466"/>
          <a:ext cx="8127999" cy="3754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34999677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4144552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374757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 Features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Relationships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593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Email, password (</a:t>
                      </a:r>
                      <a:r>
                        <a:rPr lang="en-US" sz="18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bcrypt</a:t>
                      </a:r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role, profile pic, lockout status, failed attempts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 many Orders, </a:t>
                      </a:r>
                      <a:r>
                        <a:rPr lang="en-US" sz="18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MenuItems</a:t>
                      </a:r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8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AuditLogs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39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MenuItems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Name, description, price, image (file path), category, availability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Belongs to User (creator)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421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 info, delivery address, items (JSON), status, total amount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Belongs to User (customer)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258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AuditLogs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 ID, action type, details, timestamp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Belongs to User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52184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4583781-9E91-593B-C3B6-1E4AC60A742A}"/>
              </a:ext>
            </a:extLst>
          </p:cNvPr>
          <p:cNvSpPr txBox="1"/>
          <p:nvPr/>
        </p:nvSpPr>
        <p:spPr>
          <a:xfrm>
            <a:off x="4018264" y="6030575"/>
            <a:ext cx="49779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Key:</a:t>
            </a:r>
            <a:r>
              <a:rPr lang="en-US" dirty="0">
                <a:solidFill>
                  <a:schemeClr val="bg1"/>
                </a:solidFill>
              </a:rPr>
              <a:t> </a:t>
            </a:r>
            <a:r>
              <a:rPr lang="en-US" dirty="0" err="1">
                <a:solidFill>
                  <a:schemeClr val="bg1"/>
                </a:solidFill>
              </a:rPr>
              <a:t>SQLAlchemy</a:t>
            </a:r>
            <a:r>
              <a:rPr lang="en-US" dirty="0">
                <a:solidFill>
                  <a:schemeClr val="bg1"/>
                </a:solidFill>
              </a:rPr>
              <a:t> ORM with declarative base</a:t>
            </a:r>
          </a:p>
          <a:p>
            <a:r>
              <a:rPr lang="en-US" b="1" dirty="0">
                <a:solidFill>
                  <a:srgbClr val="FFC000"/>
                </a:solidFill>
              </a:rPr>
              <a:t>Indexing:</a:t>
            </a:r>
            <a:r>
              <a:rPr lang="en-US" dirty="0">
                <a:solidFill>
                  <a:schemeClr val="bg1"/>
                </a:solidFill>
              </a:rPr>
              <a:t> Auto-incrementing IDs, email uniqueness</a:t>
            </a:r>
          </a:p>
          <a:p>
            <a:endParaRPr lang="en-PH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88640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58688" y="914400"/>
            <a:ext cx="53715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Default User Accounts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9BE27BE-19CE-152B-4A5E-759E73C94E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777781"/>
              </p:ext>
            </p:extLst>
          </p:nvPr>
        </p:nvGraphicFramePr>
        <p:xfrm>
          <a:off x="2153920" y="2294466"/>
          <a:ext cx="8128000" cy="311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1122767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2062017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57424318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51880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Role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Email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Password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rgbClr val="FFC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Capabilities</a:t>
                      </a:r>
                      <a:endParaRPr lang="en-PH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8140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👨‍💼 Admin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admin@fooddelivery.com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Admin@123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Full system control, user management, all orders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119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🛒 Customer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  <a:effectLst/>
                        </a:rPr>
                        <a:t>customer@fooddelivery.com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Customer@123</a:t>
                      </a:r>
                      <a:endParaRPr lang="en-PH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Browse menu, place orders, view history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123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PH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🍽️ Owner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owner@fooddelivery.com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Owner@123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PH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Menu management, order fulfillment</a:t>
                      </a:r>
                      <a:endParaRPr lang="en-PH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95658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322320" y="863977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2988" y="914400"/>
            <a:ext cx="486299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Project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4494820" cy="20621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D700"/>
                </a:solidFill>
              </a:defRPr>
            </a:pPr>
            <a:r>
              <a:rPr sz="2800" dirty="0"/>
              <a:t>Core Modules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auth.py - Authentication &amp; RBAC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database.py - CRUD operations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session_manager.py - Timeout handling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datetime_utils.py - Time formatting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models.py - </a:t>
            </a:r>
            <a:r>
              <a:rPr sz="2000" dirty="0" err="1"/>
              <a:t>SQLAlchemy</a:t>
            </a:r>
            <a:r>
              <a:rPr sz="2000" dirty="0"/>
              <a:t>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3795976" cy="28623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D700"/>
                </a:solidFill>
              </a:defRPr>
            </a:pPr>
            <a:r>
              <a:rPr dirty="0"/>
              <a:t>UI Screens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login.py - Authentication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signup.py - Registration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browse_menu.py - Menu catalog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cart.py - Shopping cart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order_history.py - Order tracking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profile.py - User settings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owner_dashboard.py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rPr sz="2000" dirty="0"/>
              <a:t>• admin_dashboard.py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80FEC2-0474-24DC-140E-1ACCBA091A09}"/>
              </a:ext>
            </a:extLst>
          </p:cNvPr>
          <p:cNvSpPr txBox="1"/>
          <p:nvPr/>
        </p:nvSpPr>
        <p:spPr>
          <a:xfrm>
            <a:off x="731520" y="4532253"/>
            <a:ext cx="48564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rgbClr val="FFC000"/>
                </a:solidFill>
              </a:rPr>
              <a:t>Models</a:t>
            </a:r>
          </a:p>
          <a:p>
            <a:r>
              <a:rPr lang="en-PH" sz="2000" dirty="0">
                <a:solidFill>
                  <a:schemeClr val="bg1"/>
                </a:solidFill>
              </a:rPr>
              <a:t>• </a:t>
            </a:r>
            <a:r>
              <a:rPr lang="en-PH" sz="2000" b="1" dirty="0">
                <a:solidFill>
                  <a:schemeClr val="bg1"/>
                </a:solidFill>
              </a:rPr>
              <a:t>models.py</a:t>
            </a:r>
            <a:r>
              <a:rPr lang="en-PH" sz="2000" dirty="0">
                <a:solidFill>
                  <a:schemeClr val="bg1"/>
                </a:solidFill>
              </a:rPr>
              <a:t> - </a:t>
            </a:r>
            <a:r>
              <a:rPr lang="en-PH" sz="2000" dirty="0" err="1">
                <a:solidFill>
                  <a:schemeClr val="bg1"/>
                </a:solidFill>
              </a:rPr>
              <a:t>SQLAlchemy</a:t>
            </a:r>
            <a:r>
              <a:rPr lang="en-PH" sz="2000" dirty="0">
                <a:solidFill>
                  <a:schemeClr val="bg1"/>
                </a:solidFill>
              </a:rPr>
              <a:t> models</a:t>
            </a:r>
          </a:p>
          <a:p>
            <a:r>
              <a:rPr lang="en-PH" sz="2000" dirty="0">
                <a:solidFill>
                  <a:schemeClr val="bg1"/>
                </a:solidFill>
              </a:rPr>
              <a:t>User, </a:t>
            </a:r>
            <a:r>
              <a:rPr lang="en-PH" sz="2000" dirty="0" err="1">
                <a:solidFill>
                  <a:schemeClr val="bg1"/>
                </a:solidFill>
              </a:rPr>
              <a:t>MenuItem</a:t>
            </a:r>
            <a:r>
              <a:rPr lang="en-PH" sz="2000" dirty="0">
                <a:solidFill>
                  <a:schemeClr val="bg1"/>
                </a:solidFill>
              </a:rPr>
              <a:t>, Order, </a:t>
            </a:r>
            <a:r>
              <a:rPr lang="en-PH" sz="2000" dirty="0" err="1">
                <a:solidFill>
                  <a:schemeClr val="bg1"/>
                </a:solidFill>
              </a:rPr>
              <a:t>AuditLog</a:t>
            </a:r>
            <a:endParaRPr lang="en-PH" sz="2000" dirty="0">
              <a:solidFill>
                <a:schemeClr val="bg1"/>
              </a:solidFill>
            </a:endParaRPr>
          </a:p>
          <a:p>
            <a:endParaRPr lang="en-PH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701181" y="769441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5581" y="914400"/>
            <a:ext cx="605781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Advanced Functionalities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🔍  Smart Filtering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Multi-level filtering on users, orders, and menu items; Real-time search; Dynamic result counting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7744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📸  Image Management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File-based image storage with UUID naming; Limits: 3MB menu, 1MB profile; JPG/PNG/GIF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2336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📝  Audit Logging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Comprehensive action tracking: user creation/deletion; login attempts; order status changes; menu modifications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023360"/>
            <a:ext cx="4572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✅  Real-time Validation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Live input validation with visual feedback; green/red borders; password strength indicator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27680" y="82296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6197" y="914400"/>
            <a:ext cx="483658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Installation &amp; Setup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7AB1F8-F83A-3352-577E-2ED6AF295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29" y="2003972"/>
            <a:ext cx="5281118" cy="20270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35C6165-84FC-24DD-0FA9-89FD94D9E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045" y="4477897"/>
            <a:ext cx="5189670" cy="14250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707FE3-B4C5-8124-DC19-8D9E8B763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795" y="2003972"/>
            <a:ext cx="5197290" cy="27510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4DB294-16EF-314D-0D44-ADD8759096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5910" y="4861435"/>
            <a:ext cx="5273497" cy="14479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20160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81211" y="914400"/>
            <a:ext cx="332655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UI/UX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90520" y="2265680"/>
            <a:ext cx="1859280" cy="640080"/>
          </a:xfrm>
          <a:prstGeom prst="roundRect">
            <a:avLst/>
          </a:prstGeom>
          <a:solidFill>
            <a:srgbClr val="9A031E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0F0F0"/>
                </a:solidFill>
              </a:defRPr>
            </a:pPr>
            <a:r>
              <a:t>#9A031E - Primary 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0520" y="3180080"/>
            <a:ext cx="1859280" cy="640080"/>
          </a:xfrm>
          <a:prstGeom prst="roundRect">
            <a:avLst/>
          </a:prstGeom>
          <a:solidFill>
            <a:srgbClr val="6B0113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0F0F0"/>
                </a:solidFill>
              </a:defRPr>
            </a:pPr>
            <a:r>
              <a:t>#6B0113 - Dark 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0520" y="4094480"/>
            <a:ext cx="1859280" cy="640080"/>
          </a:xfrm>
          <a:prstGeom prst="roundRect">
            <a:avLst/>
          </a:prstGeom>
          <a:solidFill>
            <a:srgbClr val="3D000D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0F0F0"/>
                </a:solidFill>
              </a:defRPr>
            </a:pPr>
            <a:r>
              <a:t>#3D000D - Very Dark 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0520" y="5008880"/>
            <a:ext cx="1859280" cy="640080"/>
          </a:xfrm>
          <a:prstGeom prst="roundRect">
            <a:avLst/>
          </a:prstGeom>
          <a:solidFill>
            <a:srgbClr val="FFD70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000000"/>
                </a:solidFill>
              </a:defRPr>
            </a:pPr>
            <a:r>
              <a:t>#FFD700 - Gold (Accents)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4004DB-89A7-0BA2-051F-023BE9BB2CDD}"/>
              </a:ext>
            </a:extLst>
          </p:cNvPr>
          <p:cNvSpPr txBox="1"/>
          <p:nvPr/>
        </p:nvSpPr>
        <p:spPr>
          <a:xfrm>
            <a:off x="6187319" y="1873806"/>
            <a:ext cx="399269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rgbClr val="FFC000"/>
                </a:solidFill>
              </a:rPr>
              <a:t>Design Principles</a:t>
            </a: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Material Design components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Dark theme for reduced eye strain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Gradient backgrounds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High contrast text (white on dark)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Consistent spacing &amp; padding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Rounded corners (border-radius: 10px)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Shadow effects for depth</a:t>
            </a:r>
          </a:p>
          <a:p>
            <a:endParaRPr lang="en-PH" dirty="0">
              <a:solidFill>
                <a:schemeClr val="bg1"/>
              </a:solidFill>
            </a:endParaRPr>
          </a:p>
          <a:p>
            <a:r>
              <a:rPr lang="en-PH" dirty="0">
                <a:solidFill>
                  <a:schemeClr val="bg1"/>
                </a:solidFill>
              </a:rPr>
              <a:t>•</a:t>
            </a:r>
            <a:r>
              <a:rPr lang="en-PH" dirty="0"/>
              <a:t> </a:t>
            </a:r>
            <a:r>
              <a:rPr lang="en-PH" dirty="0">
                <a:solidFill>
                  <a:schemeClr val="bg1"/>
                </a:solidFill>
              </a:rPr>
              <a:t>Responsive icon buttons</a:t>
            </a:r>
          </a:p>
          <a:p>
            <a:endParaRPr lang="en-PH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97200" y="9144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97160" y="914400"/>
            <a:ext cx="529465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Future Enhancements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💳  Payment Integration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Stripe/PayPal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3774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📍  GPS Tracking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Real-time delivery location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⭐  Rating System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Customer reviews and ratings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3774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🔔  Push Notifications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Order status updates via notifications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📊  Analytics Dashboard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Sales reports and 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42062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🎫  Coupon System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Discount codes and promotions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2062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🌐  Multi-language Support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Internationalization (i18n)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4206240"/>
            <a:ext cx="25603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D700"/>
                </a:solidFill>
              </a:defRPr>
            </a:pPr>
            <a:r>
              <a:rPr dirty="0"/>
              <a:t>📱  Mobile App</a:t>
            </a:r>
          </a:p>
          <a:p>
            <a:pPr lvl="1">
              <a:defRPr sz="1300">
                <a:solidFill>
                  <a:srgbClr val="F0F0F0"/>
                </a:solidFill>
              </a:defRPr>
            </a:pPr>
            <a:r>
              <a:rPr dirty="0">
                <a:solidFill>
                  <a:schemeClr val="tx1"/>
                </a:solidFill>
              </a:rPr>
              <a:t>Native iOS/Android applications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00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0" y="2514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/>
            </a:pPr>
            <a:r>
              <a:rPr dirty="0"/>
              <a:t>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14937" y="2423160"/>
            <a:ext cx="3038781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913</Words>
  <Application>Microsoft Office PowerPoint</Application>
  <PresentationFormat>Widescreen</PresentationFormat>
  <Paragraphs>196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</cp:lastModifiedBy>
  <cp:revision>2</cp:revision>
  <dcterms:created xsi:type="dcterms:W3CDTF">2013-01-27T09:14:16Z</dcterms:created>
  <dcterms:modified xsi:type="dcterms:W3CDTF">2025-12-08T09:56:19Z</dcterms:modified>
  <cp:category/>
</cp:coreProperties>
</file>