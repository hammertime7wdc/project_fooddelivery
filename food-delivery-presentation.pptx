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946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38646" y="344978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🍔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62718" y="1350818"/>
            <a:ext cx="786625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Food Delivery Application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9659" y="3453938"/>
            <a:ext cx="515237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rPr dirty="0"/>
              <a:t>A Full-Featured Restaurant Management &amp; Delivery System</a:t>
            </a:r>
            <a:endParaRPr dirty="0"/>
          </a:p>
          <a:p>
            <a:pPr algn="ctr"/>
            <a:r>
              <a:rPr dirty="0">
                <a:solidFill>
                  <a:schemeClr val="bg1"/>
                </a:solidFill>
              </a:rPr>
              <a:t>Built with Python &amp; Flet Framework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86937" y="914400"/>
            <a:ext cx="421782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Project Overview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👥  Multi-Role System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Customer, Restaurant Owner, and Administrator roles with distinct capabilities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0" y="219456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🔐  Enterprise Security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Advanced authentication with lockout protection and session management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📱  Modern UI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Material Design interface with dark theme and gradient styling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0" y="384048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⚡  Real-Time Updates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Live order tracking and status updates with automatic polling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82077" y="914400"/>
            <a:ext cx="342754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Core Features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453667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🛒 Customer Features</a:t>
            </a:r>
            <a:endParaRPr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Browse menu with search &amp; filters</a:t>
            </a: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Shopping cart with quantity control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Order placement &amp; tracking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Order history with status filters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Cancel orders (placed/preparing)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Profile customization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0" y="2194560"/>
            <a:ext cx="3826689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🍽️ Owner Features</a:t>
            </a:r>
            <a:endParaRPr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Menu item CRUD operations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Image upload (3MB limit)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Category management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Order status updates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Order filtering &amp; search</a:t>
            </a:r>
            <a:endParaRPr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endParaRPr lang="en-PH" sz="2000" dirty="0"/>
          </a:p>
          <a:p>
            <a:pPr lvl="1">
              <a:defRPr sz="1400">
                <a:solidFill>
                  <a:srgbClr val="F0F0F0"/>
                </a:solidFill>
              </a:defRPr>
            </a:pPr>
            <a:r>
              <a:rPr sz="2000" dirty="0"/>
              <a:t>• Real-time order monitoring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68880" y="883227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👨‍💼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572973" y="914400"/>
            <a:ext cx="614302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Administrator Dashboard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User Management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Create users (all roles); Enable/disable accounts; View login history; Monitor failed attempts; Search &amp; filter users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237744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System Oversight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/>
              <a:t>Monitor all orders; Update order statuses; View audit logs; Track user activity; System-wide analytics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Security Controls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Password policy enforcement; Account lockout management; Session timeout control; Real-time validation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4023360"/>
            <a:ext cx="4572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User Filters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Filter by role/status; Search by name/email; View locked accounts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608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🔒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095745" y="914400"/>
            <a:ext cx="509748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Security Architecture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572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>
                <a:solidFill>
                  <a:srgbClr val="FFC000"/>
                </a:solidFill>
              </a:rPr>
              <a:t>Password Security</a:t>
            </a:r>
            <a:endParaRPr dirty="0">
              <a:solidFill>
                <a:srgbClr val="FFC000"/>
              </a:solidFill>
            </a:endParaRPr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 err="1">
                <a:solidFill>
                  <a:schemeClr val="tx1"/>
                </a:solidFill>
              </a:rPr>
              <a:t>bcrypt</a:t>
            </a:r>
            <a:r>
              <a:rPr dirty="0">
                <a:solidFill>
                  <a:schemeClr val="tx1"/>
                </a:solidFill>
              </a:rPr>
              <a:t> hashing (12 rounds); Min 8 chars; Upper/lowercase, number, special; Common password blocking; Strength indicator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2377440"/>
            <a:ext cx="4572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Account Protection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Max 5 failed logins; 30-min lockout; Visual countdown; Auto unlock; Admin controls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4572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Session Management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15-min inactivity timeout; 2-min warning; Activity tracking; Graceful termination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4389120"/>
            <a:ext cx="4572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Input Validation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Email RFC validation; Real-time validation; Visual error indicators; Sanitization; SQL injection prevention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/>
          <p:cNvSpPr/>
          <p:nvPr/>
        </p:nvSpPr>
        <p:spPr>
          <a:xfrm>
            <a:off x="9022468" y="2313136"/>
            <a:ext cx="1157547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7389" y="2297490"/>
            <a:ext cx="1863785" cy="829128"/>
          </a:xfrm>
          <a:prstGeom prst="rect">
            <a:avLst/>
          </a:prstGeom>
        </p:spPr>
      </p:pic>
      <p:sp>
        <p:nvSpPr>
          <p:cNvPr id="9" name="Rounded Rectangle 4"/>
          <p:cNvSpPr/>
          <p:nvPr/>
        </p:nvSpPr>
        <p:spPr>
          <a:xfrm>
            <a:off x="4656858" y="2325485"/>
            <a:ext cx="1157547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2930236" y="2325485"/>
            <a:ext cx="1157547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26327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📦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708775" y="914400"/>
            <a:ext cx="555722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Order Status Workflow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4428" y="2460540"/>
            <a:ext cx="72438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rPr dirty="0"/>
              <a:t>Placed   </a:t>
            </a:r>
            <a:r>
              <a:rPr lang="en-PH" dirty="0"/>
              <a:t>    </a:t>
            </a:r>
            <a:r>
              <a:rPr dirty="0"/>
              <a:t>→   </a:t>
            </a:r>
            <a:r>
              <a:rPr lang="en-PH" dirty="0"/>
              <a:t>  </a:t>
            </a:r>
            <a:r>
              <a:rPr dirty="0"/>
              <a:t>Preparing </a:t>
            </a:r>
            <a:r>
              <a:rPr lang="en-PH" dirty="0"/>
              <a:t>  </a:t>
            </a:r>
            <a:r>
              <a:rPr dirty="0"/>
              <a:t>  → </a:t>
            </a:r>
            <a:r>
              <a:rPr lang="en-PH" dirty="0"/>
              <a:t>  </a:t>
            </a:r>
            <a:r>
              <a:rPr dirty="0"/>
              <a:t>  Out for Delivery </a:t>
            </a:r>
            <a:r>
              <a:rPr lang="en-PH" dirty="0"/>
              <a:t>  </a:t>
            </a:r>
            <a:r>
              <a:rPr dirty="0"/>
              <a:t>  →</a:t>
            </a:r>
            <a:r>
              <a:rPr lang="en-PH" dirty="0"/>
              <a:t> </a:t>
            </a:r>
            <a:r>
              <a:rPr dirty="0"/>
              <a:t> </a:t>
            </a:r>
            <a:r>
              <a:rPr lang="en-PH" dirty="0"/>
              <a:t>  </a:t>
            </a:r>
            <a:r>
              <a:rPr dirty="0"/>
              <a:t>  Delivered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813182" y="3289668"/>
            <a:ext cx="5276316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F0F0F0"/>
                </a:solidFill>
              </a:defRPr>
            </a:pPr>
            <a:r>
              <a:rPr sz="1600" dirty="0">
                <a:solidFill>
                  <a:srgbClr val="FFC000"/>
                </a:solidFill>
              </a:rPr>
              <a:t>Placed:</a:t>
            </a:r>
            <a:r>
              <a:rPr sz="1600" dirty="0"/>
              <a:t> Can move to Preparing, Out for Delivery, or Cancelled</a:t>
            </a:r>
            <a:endParaRPr lang="en-PH" sz="1600" dirty="0">
              <a:solidFill>
                <a:srgbClr val="FFC000"/>
              </a:solidFill>
            </a:endParaRPr>
          </a:p>
          <a:p>
            <a:pPr>
              <a:defRPr sz="1400">
                <a:solidFill>
                  <a:srgbClr val="F0F0F0"/>
                </a:solidFill>
              </a:defRPr>
            </a:pPr>
            <a:r>
              <a:rPr sz="1600" dirty="0">
                <a:solidFill>
                  <a:srgbClr val="FFC000"/>
                </a:solidFill>
              </a:rPr>
              <a:t>Preparing:</a:t>
            </a:r>
            <a:r>
              <a:rPr sz="1600" dirty="0"/>
              <a:t> Can move to Out for Delivery or Cancelled</a:t>
            </a:r>
            <a:endParaRPr lang="en-PH" sz="1600" dirty="0">
              <a:solidFill>
                <a:srgbClr val="FFC000"/>
              </a:solidFill>
            </a:endParaRPr>
          </a:p>
          <a:p>
            <a:pPr>
              <a:defRPr sz="1400">
                <a:solidFill>
                  <a:srgbClr val="F0F0F0"/>
                </a:solidFill>
              </a:defRPr>
            </a:pPr>
            <a:r>
              <a:rPr sz="1600" dirty="0">
                <a:solidFill>
                  <a:srgbClr val="FFC000"/>
                </a:solidFill>
              </a:rPr>
              <a:t>Out for Delivery:</a:t>
            </a:r>
            <a:r>
              <a:rPr sz="1600" dirty="0"/>
              <a:t> Can move to Delivered or Cancelled</a:t>
            </a:r>
            <a:endParaRPr lang="en-PH" sz="1600" dirty="0">
              <a:solidFill>
                <a:srgbClr val="FFC000"/>
              </a:solidFill>
            </a:endParaRPr>
          </a:p>
          <a:p>
            <a:pPr>
              <a:defRPr sz="1400">
                <a:solidFill>
                  <a:srgbClr val="F0F0F0"/>
                </a:solidFill>
              </a:defRPr>
            </a:pPr>
            <a:r>
              <a:rPr sz="1600" dirty="0">
                <a:solidFill>
                  <a:srgbClr val="FFC000"/>
                </a:solidFill>
              </a:rPr>
              <a:t>Delivered:</a:t>
            </a:r>
            <a:r>
              <a:rPr sz="1600" dirty="0"/>
              <a:t> Final state (no further changes)</a:t>
            </a:r>
            <a:endParaRPr lang="en-PH" sz="1600" dirty="0">
              <a:solidFill>
                <a:srgbClr val="FFC000"/>
              </a:solidFill>
            </a:endParaRPr>
          </a:p>
          <a:p>
            <a:pPr>
              <a:defRPr sz="1400">
                <a:solidFill>
                  <a:srgbClr val="F0F0F0"/>
                </a:solidFill>
              </a:defRPr>
            </a:pPr>
            <a:r>
              <a:rPr sz="1600" dirty="0">
                <a:solidFill>
                  <a:srgbClr val="FFC000"/>
                </a:solidFill>
              </a:rPr>
              <a:t>Cancelled:</a:t>
            </a:r>
            <a:r>
              <a:rPr sz="1600" dirty="0"/>
              <a:t> Final state (no further changes)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708775" y="5312272"/>
            <a:ext cx="51010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✓ Per-customer order numbering for easy reference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✓ Real-time status updates (30-second polling)</a:t>
            </a:r>
            <a:endParaRPr lang="en-US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000" y="8419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⚙️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22753" y="914400"/>
            <a:ext cx="42434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Technology Stack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43535" y="2458720"/>
            <a:ext cx="2987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🐍  Python 3.8+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Core Language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32655" y="2458720"/>
            <a:ext cx="2987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🎨  Flet 0.28.3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UI Framework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021775" y="2458720"/>
            <a:ext cx="2987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🗄️  SQLite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Database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3535" y="4378960"/>
            <a:ext cx="2987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🔧  </a:t>
            </a:r>
            <a:r>
              <a:rPr dirty="0" err="1"/>
              <a:t>SQLAlchemy</a:t>
            </a:r>
            <a:r>
              <a:rPr dirty="0"/>
              <a:t> 2.0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ORM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32655" y="4378960"/>
            <a:ext cx="2987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🔐  </a:t>
            </a:r>
            <a:r>
              <a:rPr dirty="0" err="1"/>
              <a:t>bcrypt</a:t>
            </a:r>
            <a:r>
              <a:rPr dirty="0"/>
              <a:t> 5.0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Password Hashing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1775" y="4378960"/>
            <a:ext cx="2987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📝  Material Design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UI Components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61064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📊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475464" y="914400"/>
            <a:ext cx="433804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Database Schema</a:t>
            </a:r>
            <a:endParaRPr dirty="0">
              <a:solidFill>
                <a:srgbClr val="FFC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46480" y="3234266"/>
          <a:ext cx="812799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52016" y="2167466"/>
          <a:ext cx="8127999" cy="3754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Features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Relationships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Email, password (</a:t>
                      </a:r>
                      <a:r>
                        <a:rPr lang="en-US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bcrypt</a:t>
                      </a: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role, profile pic, lockout status, failed attempts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 many Orders, </a:t>
                      </a:r>
                      <a:r>
                        <a:rPr lang="en-US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MenuItems</a:t>
                      </a:r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AuditLogs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MenuItems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Name, description, price, image (file path), category, availability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Belongs to User (creator)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info, delivery address, items (JSON), status, total amount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Belongs to User (customer)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AuditLogs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ID, action type, details, timestamp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Belongs to User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18264" y="6030575"/>
            <a:ext cx="497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Key: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SQLAlchemy</a:t>
            </a:r>
            <a:r>
              <a:rPr lang="en-US" dirty="0">
                <a:solidFill>
                  <a:schemeClr val="bg1"/>
                </a:solidFill>
              </a:rPr>
              <a:t> ORM with declarative base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rgbClr val="FFC000"/>
                </a:solidFill>
              </a:rPr>
              <a:t>Indexing:</a:t>
            </a:r>
            <a:r>
              <a:rPr lang="en-US" dirty="0">
                <a:solidFill>
                  <a:schemeClr val="bg1"/>
                </a:solidFill>
              </a:rPr>
              <a:t> Auto-incrementing IDs, email uniqueness</a:t>
            </a:r>
            <a:endParaRPr lang="en-US" dirty="0">
              <a:solidFill>
                <a:schemeClr val="bg1"/>
              </a:solidFill>
            </a:endParaRPr>
          </a:p>
          <a:p>
            <a:endParaRPr lang="en-P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8864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958688" y="914400"/>
            <a:ext cx="537159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Default User Accounts</a:t>
            </a:r>
            <a:endParaRPr dirty="0">
              <a:solidFill>
                <a:srgbClr val="FFC0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53920" y="2294466"/>
          <a:ext cx="8128000" cy="311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Capabilities</a:t>
                      </a:r>
                      <a:endParaRPr lang="en-PH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👨‍💼 Admin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admin@fooddelivery.com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Admin@123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system control, user management, all orders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🛒 Customer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dirty="0">
                          <a:solidFill>
                            <a:schemeClr val="bg1"/>
                          </a:solidFill>
                          <a:effectLst/>
                        </a:rPr>
                        <a:t>customer@fooddelivery.com</a:t>
                      </a:r>
                      <a:endParaRPr lang="en-PH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Customer@123</a:t>
                      </a:r>
                      <a:endParaRPr lang="en-PH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Browse menu, place orders, view history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🍽️ Owner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owner@fooddelivery.com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Owner@123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 management, order fulfillment</a:t>
                      </a:r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22320" y="863977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📁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212988" y="914400"/>
            <a:ext cx="486299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Project Architecture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4494820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rPr sz="2800" dirty="0"/>
              <a:t>Core Modules</a:t>
            </a:r>
            <a:endParaRPr sz="28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auth.py - Authentication &amp; RBAC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database.py - CRUD operations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session_manager.py - Timeout handling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datetime_utils.py - Time formatting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models.py - </a:t>
            </a:r>
            <a:r>
              <a:rPr sz="2000" dirty="0" err="1"/>
              <a:t>SQLAlchemy</a:t>
            </a:r>
            <a:r>
              <a:rPr sz="2000" dirty="0"/>
              <a:t> models</a:t>
            </a: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3795976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rPr dirty="0"/>
              <a:t>UI Screens</a:t>
            </a:r>
            <a:endParaRPr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login.py - Authentication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signup.py - Registration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browse_menu.py - Menu catalog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cart.py - Shopping cart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order_history.py - Order tracking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profile.py - User settings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owner_dashboard.py</a:t>
            </a:r>
            <a:endParaRPr sz="2000" dirty="0"/>
          </a:p>
          <a:p>
            <a:pPr>
              <a:defRPr sz="1300">
                <a:solidFill>
                  <a:srgbClr val="F0F0F0"/>
                </a:solidFill>
              </a:defRPr>
            </a:pPr>
            <a:r>
              <a:rPr sz="2000" dirty="0"/>
              <a:t>• admin_dashboard.py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532253"/>
            <a:ext cx="48564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b="1" dirty="0">
                <a:solidFill>
                  <a:srgbClr val="FFC000"/>
                </a:solidFill>
              </a:rPr>
              <a:t>Models</a:t>
            </a:r>
            <a:endParaRPr lang="en-PH" sz="2400" b="1" dirty="0">
              <a:solidFill>
                <a:srgbClr val="FFC000"/>
              </a:solidFill>
            </a:endParaRPr>
          </a:p>
          <a:p>
            <a:r>
              <a:rPr lang="en-PH" sz="2000" dirty="0">
                <a:solidFill>
                  <a:schemeClr val="bg1"/>
                </a:solidFill>
              </a:rPr>
              <a:t>• </a:t>
            </a:r>
            <a:r>
              <a:rPr lang="en-PH" sz="2000" b="1" dirty="0">
                <a:solidFill>
                  <a:schemeClr val="bg1"/>
                </a:solidFill>
              </a:rPr>
              <a:t>models.py</a:t>
            </a:r>
            <a:r>
              <a:rPr lang="en-PH" sz="2000" dirty="0">
                <a:solidFill>
                  <a:schemeClr val="bg1"/>
                </a:solidFill>
              </a:rPr>
              <a:t> - </a:t>
            </a:r>
            <a:r>
              <a:rPr lang="en-PH" sz="2000" dirty="0" err="1">
                <a:solidFill>
                  <a:schemeClr val="bg1"/>
                </a:solidFill>
              </a:rPr>
              <a:t>SQLAlchemy</a:t>
            </a:r>
            <a:r>
              <a:rPr lang="en-PH" sz="2000" dirty="0">
                <a:solidFill>
                  <a:schemeClr val="bg1"/>
                </a:solidFill>
              </a:rPr>
              <a:t> models</a:t>
            </a:r>
            <a:endParaRPr lang="en-PH" sz="2000" dirty="0">
              <a:solidFill>
                <a:schemeClr val="bg1"/>
              </a:solidFill>
            </a:endParaRPr>
          </a:p>
          <a:p>
            <a:r>
              <a:rPr lang="en-PH" sz="2000" dirty="0">
                <a:solidFill>
                  <a:schemeClr val="bg1"/>
                </a:solidFill>
              </a:rPr>
              <a:t>User, </a:t>
            </a:r>
            <a:r>
              <a:rPr lang="en-PH" sz="2000" dirty="0" err="1">
                <a:solidFill>
                  <a:schemeClr val="bg1"/>
                </a:solidFill>
              </a:rPr>
              <a:t>MenuItem</a:t>
            </a:r>
            <a:r>
              <a:rPr lang="en-PH" sz="2000" dirty="0">
                <a:solidFill>
                  <a:schemeClr val="bg1"/>
                </a:solidFill>
              </a:rPr>
              <a:t>, Order, </a:t>
            </a:r>
            <a:r>
              <a:rPr lang="en-PH" sz="2000" dirty="0" err="1">
                <a:solidFill>
                  <a:schemeClr val="bg1"/>
                </a:solidFill>
              </a:rPr>
              <a:t>AuditLog</a:t>
            </a:r>
            <a:endParaRPr lang="en-PH" sz="2000" dirty="0">
              <a:solidFill>
                <a:schemeClr val="bg1"/>
              </a:solidFill>
            </a:endParaRPr>
          </a:p>
          <a:p>
            <a:endParaRPr lang="en-P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1181" y="769441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🎯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15581" y="914400"/>
            <a:ext cx="605781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Advanced Functionalities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🔍  Smart Filtering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Multi-level filtering on users, orders, and menu items; Real-time search; Dynamic result counting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237744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📸  Image Management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File-based image storage with UUID naming; Limits: 3MB menu, 1MB profile; JPG/PNG/GIF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📝  Audit Logging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Comprehensive action tracking: user creation/deletion; login attempts; order status changes; menu modifications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4023360"/>
            <a:ext cx="4572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✅  Real-time Validation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Live input validation with visual feedback; green/red borders; password strength indicator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27680" y="8229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🚀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226197" y="914400"/>
            <a:ext cx="48365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Installation &amp; Setup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29" y="2003972"/>
            <a:ext cx="5281118" cy="20270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45" y="4477897"/>
            <a:ext cx="5189670" cy="14250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795" y="2003972"/>
            <a:ext cx="5197290" cy="27510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910" y="4861435"/>
            <a:ext cx="5273497" cy="1447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2016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🎨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981211" y="914400"/>
            <a:ext cx="332655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UI/UX Design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90520" y="2265680"/>
            <a:ext cx="1859280" cy="640080"/>
          </a:xfrm>
          <a:prstGeom prst="roundRect">
            <a:avLst/>
          </a:prstGeom>
          <a:solidFill>
            <a:srgbClr val="9A031E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#9A031E - Primary 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0520" y="3180080"/>
            <a:ext cx="1859280" cy="640080"/>
          </a:xfrm>
          <a:prstGeom prst="roundRect">
            <a:avLst/>
          </a:prstGeom>
          <a:solidFill>
            <a:srgbClr val="6B011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#6B0113 - Dark 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0520" y="4094480"/>
            <a:ext cx="1859280" cy="640080"/>
          </a:xfrm>
          <a:prstGeom prst="roundRect">
            <a:avLst/>
          </a:prstGeom>
          <a:solidFill>
            <a:srgbClr val="3D000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0F0F0"/>
                </a:solidFill>
              </a:defRPr>
            </a:pPr>
            <a:r>
              <a:t>#3D000D - Very Dark 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319" y="1873806"/>
            <a:ext cx="399269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rgbClr val="FFC000"/>
                </a:solidFill>
              </a:rPr>
              <a:t>Design Principles</a:t>
            </a:r>
            <a:endParaRPr lang="en-PH" b="1" dirty="0">
              <a:solidFill>
                <a:srgbClr val="FFC000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Material Design components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Dark theme for reduced eye strain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Gradient backgrounds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High contrast text (white on dark)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Consistent spacing &amp; padding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Rounded corners (border-radius: 10px)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Shadow effects for depth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>
              <a:solidFill>
                <a:schemeClr val="bg1"/>
              </a:solidFill>
            </a:endParaRPr>
          </a:p>
          <a:p>
            <a:r>
              <a:rPr lang="en-PH" dirty="0">
                <a:solidFill>
                  <a:schemeClr val="bg1"/>
                </a:solidFill>
              </a:rPr>
              <a:t>•</a:t>
            </a:r>
            <a:r>
              <a:rPr lang="en-PH" dirty="0"/>
              <a:t> </a:t>
            </a:r>
            <a:r>
              <a:rPr lang="en-PH" dirty="0">
                <a:solidFill>
                  <a:schemeClr val="bg1"/>
                </a:solidFill>
              </a:rPr>
              <a:t>Responsive icon buttons</a:t>
            </a:r>
            <a:endParaRPr lang="en-PH" dirty="0">
              <a:solidFill>
                <a:schemeClr val="bg1"/>
              </a:solidFill>
            </a:endParaRPr>
          </a:p>
          <a:p>
            <a:endParaRPr lang="en-P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972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🚀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997160" y="914400"/>
            <a:ext cx="529465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Future Enhancements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💳  Payment Integration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Stripe/PayPal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160" y="23774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📍  GPS Tracking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Real-time delivery location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⭐  Rating System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Customer reviews and ratings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235440" y="23774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🔔  Push Notifications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Order status updates via notifications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📊  Analytics Dashboard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Sales reports and metrics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66160" y="42062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🎫  Coupon System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Discount codes and promotions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42062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🌐  Multi-language Support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Internationalization (i18n)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235440" y="420624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rPr dirty="0"/>
              <a:t>📱  Mobile App</a:t>
            </a:r>
            <a:endParaRPr dirty="0"/>
          </a:p>
          <a:p>
            <a:pPr lvl="1">
              <a:defRPr sz="1300">
                <a:solidFill>
                  <a:srgbClr val="F0F0F0"/>
                </a:solidFill>
              </a:defRPr>
            </a:pPr>
            <a:r>
              <a:rPr dirty="0">
                <a:solidFill>
                  <a:schemeClr val="tx1"/>
                </a:solidFill>
              </a:rPr>
              <a:t>Native iOS/Android applications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0" y="2514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rPr dirty="0"/>
              <a:t>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114937" y="2423160"/>
            <a:ext cx="303878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Thank You</a:t>
            </a:r>
            <a:endParaRPr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5017</Words>
  <Application>WPS Presentation</Application>
  <PresentationFormat>Widescreen</PresentationFormat>
  <Paragraphs>301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Jacob Sabio</cp:lastModifiedBy>
  <cp:revision>3</cp:revision>
  <dcterms:created xsi:type="dcterms:W3CDTF">2013-01-27T09:14:00Z</dcterms:created>
  <dcterms:modified xsi:type="dcterms:W3CDTF">2025-12-08T12:29:10Z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2C790CFEF4D3435AB4435676FB62464E_12</vt:lpwstr>
  </property>
  <property fmtid="{D5CDD505-2E9C-101B-9397-08002B2CF9AE}" pid="3" name="KSOProductBuildVer">
    <vt:lpwstr>2057-12.2.0.23149</vt:lpwstr>
  </property>
</Properties>
</file>